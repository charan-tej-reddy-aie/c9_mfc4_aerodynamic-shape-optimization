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9" r:id="rId10"/>
    <p:sldId id="274" r:id="rId11"/>
    <p:sldId id="266" r:id="rId12"/>
    <p:sldId id="273" r:id="rId13"/>
    <p:sldId id="280" r:id="rId14"/>
    <p:sldId id="281" r:id="rId15"/>
    <p:sldId id="270" r:id="rId16"/>
    <p:sldId id="272" r:id="rId17"/>
    <p:sldId id="267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136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14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74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74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31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117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60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55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9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94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94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AED1F-675D-48BD-B9ED-EB868B94538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98AF-3FE9-4D5E-97D8-0F5C87B1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2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8140" y="143746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Aerodynamic shape optimization based on discrete </a:t>
            </a:r>
            <a:r>
              <a:rPr lang="en-US" dirty="0" err="1" smtClean="0">
                <a:solidFill>
                  <a:srgbClr val="7030A0"/>
                </a:solidFill>
                <a:latin typeface="Britannic Bold" panose="020B0903060703020204" pitchFamily="34" charset="0"/>
              </a:rPr>
              <a:t>adjoint</a:t>
            </a:r>
            <a:r>
              <a:rPr lang="en-US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 and RBF</a:t>
            </a:r>
            <a:endParaRPr lang="en-IN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8140" y="3744097"/>
            <a:ext cx="9306697" cy="2292179"/>
          </a:xfrm>
        </p:spPr>
        <p:txBody>
          <a:bodyPr>
            <a:normAutofit fontScale="92500" lnSpcReduction="10000"/>
          </a:bodyPr>
          <a:lstStyle/>
          <a:p>
            <a:pPr>
              <a:defRPr sz="2000">
                <a:solidFill>
                  <a:srgbClr val="2E2E2E"/>
                </a:solidFill>
              </a:defRPr>
            </a:pPr>
            <a:r>
              <a:rPr lang="en-US" b="1" dirty="0" smtClean="0">
                <a:solidFill>
                  <a:srgbClr val="002060"/>
                </a:solidFill>
                <a:latin typeface="Algerian" panose="04020705040A02060702" pitchFamily="82" charset="0"/>
              </a:rPr>
              <a:t>Group-9</a:t>
            </a:r>
          </a:p>
          <a:p>
            <a:pPr>
              <a:defRPr sz="2000">
                <a:solidFill>
                  <a:srgbClr val="2E2E2E"/>
                </a:solidFill>
              </a:defRPr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First Review </a:t>
            </a:r>
            <a:r>
              <a:rPr lang="en-IN" dirty="0" smtClean="0">
                <a:solidFill>
                  <a:srgbClr val="002060"/>
                </a:solidFill>
                <a:latin typeface="Algerian" panose="04020705040A02060702" pitchFamily="82" charset="0"/>
              </a:rPr>
              <a:t>Presentation – MFC4</a:t>
            </a:r>
            <a:endParaRPr lang="en-IN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2E2E2E"/>
                </a:solidFill>
              </a:defRPr>
            </a:pPr>
            <a:r>
              <a:rPr lang="en-IN" dirty="0" err="1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Amrutha.Tammurothu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| 24255 </a:t>
            </a:r>
          </a:p>
          <a:p>
            <a:pPr>
              <a:defRPr sz="2000">
                <a:solidFill>
                  <a:srgbClr val="2E2E2E"/>
                </a:solidFill>
              </a:defRPr>
            </a:pP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Bala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Prasanna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 err="1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Kumar.Thelapolu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| 24256</a:t>
            </a:r>
          </a:p>
          <a:p>
            <a:pPr>
              <a:defRPr sz="2000">
                <a:solidFill>
                  <a:srgbClr val="2E2E2E"/>
                </a:solidFill>
              </a:defRPr>
            </a:pP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Charan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Tej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 err="1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Reddy.Yammunuru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| 24259</a:t>
            </a:r>
            <a:b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</a:b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Poojitha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.</a:t>
            </a:r>
            <a:r>
              <a:rPr lang="en-IN" dirty="0" err="1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Devineni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Forte" panose="03060902040502070203" pitchFamily="66" charset="0"/>
              </a:rPr>
              <a:t>| 24263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508A2AB-837D-0A96-ACAB-5178BED74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817" y="231624"/>
            <a:ext cx="7686078" cy="136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4" y="3825060"/>
            <a:ext cx="3986304" cy="23996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71" y="420392"/>
            <a:ext cx="1689545" cy="10170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4450233"/>
            <a:ext cx="2185466" cy="13156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178006" y="1666037"/>
            <a:ext cx="1886050" cy="113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2735" y="111812"/>
            <a:ext cx="10515600" cy="709913"/>
          </a:xfrm>
        </p:spPr>
        <p:txBody>
          <a:bodyPr anchor="t"/>
          <a:lstStyle/>
          <a:p>
            <a:r>
              <a:rPr lang="en-US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INTRODUCTION</a:t>
            </a:r>
            <a:endParaRPr lang="en-IN" b="1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00105" y="735510"/>
            <a:ext cx="911018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Aerodynamic performance strongly depends on body shape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geometry changes can significantly affect drag and lift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design is difficult and inefficient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Aerodynamic Shape Optimization (ASO)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CFD provides a systematic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Arial" panose="020B0604020202020204" pitchFamily="34" charset="0"/>
              </a:rPr>
              <a:t>Using computer to change the shape of wings so the air flows better</a:t>
            </a:r>
            <a:br>
              <a:rPr lang="en-US" altLang="en-US" sz="1800" dirty="0" smtClean="0">
                <a:latin typeface="Arial" panose="020B0604020202020204" pitchFamily="34" charset="0"/>
              </a:rPr>
            </a:br>
            <a:r>
              <a:rPr lang="en-US" altLang="en-US" sz="1800" dirty="0" smtClean="0">
                <a:latin typeface="Arial" panose="020B0604020202020204" pitchFamily="34" charset="0"/>
              </a:rPr>
              <a:t>less Air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resistence</a:t>
            </a:r>
            <a:r>
              <a:rPr lang="en-US" altLang="en-US" sz="1800" dirty="0" smtClean="0">
                <a:latin typeface="Arial" panose="020B0604020202020204" pitchFamily="34" charset="0"/>
              </a:rPr>
              <a:t/>
            </a:r>
            <a:br>
              <a:rPr lang="en-US" altLang="en-US" sz="1800" dirty="0" smtClean="0">
                <a:latin typeface="Arial" panose="020B0604020202020204" pitchFamily="34" charset="0"/>
              </a:rPr>
            </a:br>
            <a:r>
              <a:rPr lang="en-US" altLang="en-US" sz="1800" dirty="0" smtClean="0">
                <a:latin typeface="Arial" panose="020B0604020202020204" pitchFamily="34" charset="0"/>
              </a:rPr>
              <a:t>fuel saving &amp; Better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perrformance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21" y="2956917"/>
            <a:ext cx="5768332" cy="368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9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PROBLEM </a:t>
            </a:r>
            <a:r>
              <a:rPr lang="en-US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STATEMENT</a:t>
            </a:r>
            <a:endParaRPr lang="en-IN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965" y="1315772"/>
            <a:ext cx="10515600" cy="4351338"/>
          </a:xfrm>
        </p:spPr>
        <p:txBody>
          <a:bodyPr>
            <a:normAutofit/>
          </a:bodyPr>
          <a:lstStyle/>
          <a:p>
            <a:r>
              <a:rPr lang="en-US" sz="1900" dirty="0"/>
              <a:t>Conventional </a:t>
            </a:r>
            <a:r>
              <a:rPr lang="en-US" sz="1900" dirty="0" err="1"/>
              <a:t>adjoint</a:t>
            </a:r>
            <a:r>
              <a:rPr lang="en-US" sz="1900" dirty="0"/>
              <a:t>-based aerodynamic shape optimization suffers from poor robustness and limited design-space exploration due to inefficient mesh deformation methods (such as linear elasticity), necessitating an </a:t>
            </a:r>
            <a:r>
              <a:rPr lang="en-US" sz="1900" dirty="0" err="1"/>
              <a:t>adjoint</a:t>
            </a:r>
            <a:r>
              <a:rPr lang="en-US" sz="1900" dirty="0"/>
              <a:t>-consistent and scalable approach like RBF-based mesh deformation</a:t>
            </a:r>
            <a:r>
              <a:rPr lang="en-US" sz="1900" dirty="0" smtClean="0"/>
              <a:t>.</a:t>
            </a:r>
          </a:p>
          <a:p>
            <a:r>
              <a:rPr lang="en-IN" sz="1900" dirty="0" smtClean="0"/>
              <a:t>Traditional </a:t>
            </a:r>
            <a:r>
              <a:rPr lang="en-IN" sz="1900" dirty="0" smtClean="0"/>
              <a:t>mesh deformation methods (especially </a:t>
            </a:r>
            <a:r>
              <a:rPr lang="en-IN" sz="1900" b="1" dirty="0" smtClean="0"/>
              <a:t>Linear Elasticity Analogy – ELA</a:t>
            </a:r>
            <a:r>
              <a:rPr lang="en-IN" sz="1900" dirty="0" smtClean="0"/>
              <a:t>):</a:t>
            </a:r>
          </a:p>
          <a:p>
            <a:r>
              <a:rPr lang="en-IN" sz="1900" dirty="0" smtClean="0"/>
              <a:t> Fail for large deformations</a:t>
            </a:r>
          </a:p>
          <a:p>
            <a:r>
              <a:rPr lang="en-IN" sz="1900" dirty="0" smtClean="0"/>
              <a:t> Consume huge memory</a:t>
            </a:r>
          </a:p>
          <a:p>
            <a:r>
              <a:rPr lang="en-IN" sz="1900" dirty="0" smtClean="0"/>
              <a:t> Cause mesh quality loss → solver divergence</a:t>
            </a:r>
          </a:p>
          <a:p>
            <a:r>
              <a:rPr lang="en-IN" sz="1900" dirty="0" smtClean="0"/>
              <a:t> Restrict exploration of design space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68" y="2628746"/>
            <a:ext cx="4991797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7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3734"/>
          </a:xfrm>
        </p:spPr>
        <p:txBody>
          <a:bodyPr anchor="t"/>
          <a:lstStyle/>
          <a:p>
            <a:r>
              <a:rPr lang="en-US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OBJECTIVES</a:t>
            </a:r>
            <a:endParaRPr lang="en-IN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38200" y="1144550"/>
            <a:ext cx="1099935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strong and reliable aerodynamic shape optimization method using the Discrete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Adjoint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technique to efficiently understand how shape changes affect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use RBF-based mesh deformation so that large and complex shape changes can be applied without damaging the CFD mesh.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accurate and consistent sensitivity calculations by using Automatic Differentiation.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computational time and cost by applying a double </a:t>
            </a:r>
            <a:r>
              <a:rPr kumimoji="0" lang="en-US" altLang="en-US" sz="16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adjoint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approach, even when many design variables are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RBF with the traditional Linear Elasticity method (ELA) and show which one performs better in terms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Mesh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668" y="3276107"/>
            <a:ext cx="3570270" cy="326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2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WHAT IS RBF (Radial Basis Function)?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Radial Basis Function (RBF)</a:t>
            </a:r>
            <a:r>
              <a:rPr lang="en-US" dirty="0" smtClean="0"/>
              <a:t> is a </a:t>
            </a:r>
            <a:r>
              <a:rPr lang="en-US" b="1" dirty="0" smtClean="0"/>
              <a:t>mesh deformation technique</a:t>
            </a:r>
            <a:r>
              <a:rPr lang="en-US" dirty="0" smtClean="0"/>
              <a:t> used to smoothly move the computational mesh when the geometry shape is changed during optimization.</a:t>
            </a:r>
          </a:p>
          <a:p>
            <a:r>
              <a:rPr lang="en-US" b="1" dirty="0" smtClean="0"/>
              <a:t>In simple words:</a:t>
            </a:r>
          </a:p>
          <a:p>
            <a:r>
              <a:rPr lang="en-US" dirty="0" smtClean="0"/>
              <a:t>When we modify the shape of a wing or airfoil, the </a:t>
            </a:r>
            <a:r>
              <a:rPr lang="en-US" b="1" dirty="0" smtClean="0"/>
              <a:t>entire CFD mesh must deform smoothly</a:t>
            </a:r>
            <a:endParaRPr lang="en-US" dirty="0" smtClean="0"/>
          </a:p>
          <a:p>
            <a:r>
              <a:rPr lang="en-US" dirty="0" smtClean="0"/>
              <a:t>RBF uses </a:t>
            </a:r>
            <a:r>
              <a:rPr lang="en-US" b="1" dirty="0" smtClean="0"/>
              <a:t>distance-based interpolation</a:t>
            </a:r>
            <a:r>
              <a:rPr lang="en-US" dirty="0" smtClean="0"/>
              <a:t> to transfer surface movement to the whole mesh</a:t>
            </a:r>
          </a:p>
          <a:p>
            <a:r>
              <a:rPr lang="en-US" dirty="0" smtClean="0"/>
              <a:t>Each mesh point moves based on its </a:t>
            </a:r>
            <a:r>
              <a:rPr lang="en-US" b="1" dirty="0" smtClean="0"/>
              <a:t>distance from control points</a:t>
            </a:r>
            <a:endParaRPr lang="en-US" dirty="0" smtClean="0"/>
          </a:p>
          <a:p>
            <a:r>
              <a:rPr lang="en-US" b="1" dirty="0" smtClean="0"/>
              <a:t>Key properties of RBF:</a:t>
            </a:r>
          </a:p>
          <a:p>
            <a:r>
              <a:rPr lang="en-US" dirty="0" smtClean="0"/>
              <a:t>Does </a:t>
            </a:r>
            <a:r>
              <a:rPr lang="en-US" b="1" dirty="0" smtClean="0"/>
              <a:t>not require mesh connectivity</a:t>
            </a:r>
            <a:endParaRPr lang="en-US" dirty="0" smtClean="0"/>
          </a:p>
          <a:p>
            <a:r>
              <a:rPr lang="en-US" dirty="0" smtClean="0"/>
              <a:t>Works for </a:t>
            </a:r>
            <a:r>
              <a:rPr lang="en-US" b="1" dirty="0" smtClean="0"/>
              <a:t>structured and unstructured meshes</a:t>
            </a:r>
            <a:endParaRPr lang="en-US" dirty="0" smtClean="0"/>
          </a:p>
          <a:p>
            <a:r>
              <a:rPr lang="en-US" dirty="0" smtClean="0"/>
              <a:t>Produces </a:t>
            </a:r>
            <a:r>
              <a:rPr lang="en-US" b="1" dirty="0" smtClean="0"/>
              <a:t>smooth, high-quality deformation</a:t>
            </a:r>
            <a:endParaRPr lang="en-US" dirty="0" smtClean="0"/>
          </a:p>
          <a:p>
            <a:r>
              <a:rPr lang="en-US" dirty="0" smtClean="0"/>
              <a:t>Can handle </a:t>
            </a:r>
            <a:r>
              <a:rPr lang="en-US" b="1" dirty="0" smtClean="0"/>
              <a:t>large geometric change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93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WHY ARE WE USING RBF?</a:t>
            </a:r>
            <a:br>
              <a:rPr lang="en-IN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</a:br>
            <a:endParaRPr lang="en-IN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We use </a:t>
            </a:r>
            <a:r>
              <a:rPr lang="en-IN" b="1" dirty="0" smtClean="0"/>
              <a:t>RBF for mesh deformation</a:t>
            </a:r>
            <a:r>
              <a:rPr lang="en-IN" dirty="0" smtClean="0"/>
              <a:t> because:</a:t>
            </a:r>
          </a:p>
          <a:p>
            <a:r>
              <a:rPr lang="en-IN" dirty="0" smtClean="0"/>
              <a:t>Traditional methods like </a:t>
            </a:r>
            <a:r>
              <a:rPr lang="en-IN" b="1" dirty="0" smtClean="0"/>
              <a:t>Linear Elasticity Analogy (ELA)</a:t>
            </a:r>
            <a:r>
              <a:rPr lang="en-IN" dirty="0" smtClean="0"/>
              <a:t>:</a:t>
            </a:r>
          </a:p>
          <a:p>
            <a:pPr lvl="1"/>
            <a:r>
              <a:rPr lang="en-IN" dirty="0" smtClean="0"/>
              <a:t>Fail for large deformations</a:t>
            </a:r>
          </a:p>
          <a:p>
            <a:pPr lvl="1"/>
            <a:r>
              <a:rPr lang="en-IN" dirty="0" smtClean="0"/>
              <a:t>Consume high memory</a:t>
            </a:r>
          </a:p>
          <a:p>
            <a:pPr lvl="1"/>
            <a:r>
              <a:rPr lang="en-IN" dirty="0" smtClean="0"/>
              <a:t>Cause mesh distortion</a:t>
            </a:r>
          </a:p>
          <a:p>
            <a:r>
              <a:rPr lang="en-IN" dirty="0" smtClean="0"/>
              <a:t>RBF:</a:t>
            </a:r>
          </a:p>
          <a:p>
            <a:pPr lvl="1"/>
            <a:r>
              <a:rPr lang="en-IN" dirty="0" smtClean="0"/>
              <a:t>Preserves mesh quality and orthogonality</a:t>
            </a:r>
          </a:p>
          <a:p>
            <a:pPr lvl="1"/>
            <a:r>
              <a:rPr lang="en-IN" dirty="0" smtClean="0"/>
              <a:t>Handles </a:t>
            </a:r>
            <a:r>
              <a:rPr lang="en-IN" b="1" dirty="0" smtClean="0"/>
              <a:t>complex geometries</a:t>
            </a:r>
            <a:r>
              <a:rPr lang="en-IN" dirty="0" smtClean="0"/>
              <a:t> (winglets, turbines)</a:t>
            </a:r>
          </a:p>
          <a:p>
            <a:pPr lvl="1"/>
            <a:r>
              <a:rPr lang="en-IN" dirty="0" smtClean="0"/>
              <a:t>Is </a:t>
            </a:r>
            <a:r>
              <a:rPr lang="en-IN" b="1" dirty="0" smtClean="0"/>
              <a:t>more robust and memory efficient</a:t>
            </a:r>
            <a:endParaRPr lang="en-IN" dirty="0" smtClean="0"/>
          </a:p>
          <a:p>
            <a:r>
              <a:rPr lang="en-IN" dirty="0" smtClean="0"/>
              <a:t>👉 </a:t>
            </a:r>
            <a:r>
              <a:rPr lang="en-IN" b="1" dirty="0" smtClean="0"/>
              <a:t>Without RBF, optimization may diverge due to poor mesh quality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51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 WHAT IS DISCRETE ADJOINT?</a:t>
            </a:r>
            <a:br>
              <a:rPr lang="en-US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</a:br>
            <a:endParaRPr lang="en-IN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Discrete </a:t>
            </a:r>
            <a:r>
              <a:rPr lang="en-US" b="1" dirty="0" err="1" smtClean="0"/>
              <a:t>Adjoint</a:t>
            </a:r>
            <a:r>
              <a:rPr lang="en-US" b="1" dirty="0" smtClean="0"/>
              <a:t> Method</a:t>
            </a:r>
            <a:r>
              <a:rPr lang="en-US" dirty="0" smtClean="0"/>
              <a:t> is a technique used to compute the </a:t>
            </a:r>
            <a:r>
              <a:rPr lang="en-US" b="1" dirty="0" smtClean="0"/>
              <a:t>sensitivity (gradient)</a:t>
            </a:r>
            <a:r>
              <a:rPr lang="en-US" dirty="0" smtClean="0"/>
              <a:t> of an objective function (like drag) with respect to </a:t>
            </a:r>
            <a:r>
              <a:rPr lang="en-US" b="1" dirty="0" smtClean="0"/>
              <a:t>all design variables efficiently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In simple words:</a:t>
            </a:r>
          </a:p>
          <a:p>
            <a:r>
              <a:rPr lang="en-US" dirty="0" smtClean="0"/>
              <a:t>It tells us </a:t>
            </a:r>
            <a:r>
              <a:rPr lang="en-US" b="1" dirty="0" smtClean="0"/>
              <a:t>how changing the shape affects drag or lift</a:t>
            </a:r>
            <a:endParaRPr lang="en-US" dirty="0" smtClean="0"/>
          </a:p>
          <a:p>
            <a:r>
              <a:rPr lang="en-US" dirty="0" smtClean="0"/>
              <a:t>It computes gradients </a:t>
            </a:r>
            <a:r>
              <a:rPr lang="en-US" b="1" dirty="0" smtClean="0"/>
              <a:t>accurately and efficiently</a:t>
            </a:r>
            <a:endParaRPr lang="en-US" dirty="0" smtClean="0"/>
          </a:p>
          <a:p>
            <a:r>
              <a:rPr lang="en-US" dirty="0" smtClean="0"/>
              <a:t>Cost does </a:t>
            </a:r>
            <a:r>
              <a:rPr lang="en-US" b="1" dirty="0" smtClean="0"/>
              <a:t>not increase with number of design variables</a:t>
            </a:r>
            <a:endParaRPr lang="en-US" dirty="0" smtClean="0"/>
          </a:p>
          <a:p>
            <a:r>
              <a:rPr lang="en-US" b="1" dirty="0" smtClean="0"/>
              <a:t>Key properties of Discrete </a:t>
            </a:r>
            <a:r>
              <a:rPr lang="en-US" b="1" dirty="0" err="1" smtClean="0"/>
              <a:t>Adjoint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Provides </a:t>
            </a:r>
            <a:r>
              <a:rPr lang="en-US" b="1" dirty="0" smtClean="0"/>
              <a:t>exact gradients</a:t>
            </a:r>
            <a:r>
              <a:rPr lang="en-US" dirty="0" smtClean="0"/>
              <a:t> of the discretized CFD equations</a:t>
            </a:r>
          </a:p>
          <a:p>
            <a:r>
              <a:rPr lang="en-US" dirty="0" smtClean="0"/>
              <a:t>Computational cost depends only on </a:t>
            </a:r>
            <a:r>
              <a:rPr lang="en-US" b="1" dirty="0" smtClean="0"/>
              <a:t>number of objectives</a:t>
            </a:r>
            <a:r>
              <a:rPr lang="en-US" dirty="0" smtClean="0"/>
              <a:t>, not design variables</a:t>
            </a:r>
          </a:p>
          <a:p>
            <a:r>
              <a:rPr lang="en-US" dirty="0" smtClean="0"/>
              <a:t>Works well with </a:t>
            </a:r>
            <a:r>
              <a:rPr lang="en-US" b="1" dirty="0" smtClean="0"/>
              <a:t>turbulence models and complex physics</a:t>
            </a:r>
            <a:endParaRPr lang="en-US" dirty="0" smtClean="0"/>
          </a:p>
          <a:p>
            <a:r>
              <a:rPr lang="en-US" dirty="0" smtClean="0"/>
              <a:t>Ensures </a:t>
            </a:r>
            <a:r>
              <a:rPr lang="en-US" b="1" dirty="0" smtClean="0"/>
              <a:t>fast and stable convergence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27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WHY </a:t>
            </a:r>
            <a:r>
              <a:rPr lang="en-US" altLang="en-US" b="1" dirty="0">
                <a:solidFill>
                  <a:srgbClr val="7030A0"/>
                </a:solidFill>
                <a:latin typeface="Britannic Bold" panose="020B0903060703020204" pitchFamily="34" charset="0"/>
              </a:rPr>
              <a:t>ARE WE USING DISCRETE ADJOINT?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2421714"/>
            <a:ext cx="996778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Discrete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Adjoint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Finite Difference methods: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slow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Computationally expensive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step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Discrete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Adjoint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Computes gradients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thousands of design variables at once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convergence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essential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3D optimization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adjoint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shape optimization is practically impossible for real problems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76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Optimization Problem </a:t>
            </a:r>
            <a:endParaRPr lang="en-IN" b="1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214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Optimization Goal</a:t>
            </a:r>
          </a:p>
          <a:p>
            <a:r>
              <a:rPr lang="en-US" sz="2000" dirty="0"/>
              <a:t>The aim of aerodynamic shape optimization is to </a:t>
            </a:r>
            <a:r>
              <a:rPr lang="en-US" sz="2000" b="1" dirty="0"/>
              <a:t>minimize an aerodynamic objective</a:t>
            </a:r>
            <a:r>
              <a:rPr lang="en-US" sz="2000" dirty="0"/>
              <a:t>, usually </a:t>
            </a:r>
            <a:r>
              <a:rPr lang="en-US" sz="2000" b="1" dirty="0"/>
              <a:t>drag</a:t>
            </a:r>
            <a:r>
              <a:rPr lang="en-US" sz="2000" dirty="0"/>
              <a:t>, by changing the shape.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Mathematical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Formulation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                  constraints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016620" y="3189465"/>
                <a:ext cx="3667237" cy="12345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</m:d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20" y="3189465"/>
                <a:ext cx="3667237" cy="12345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960360" y="3272075"/>
                <a:ext cx="2057230" cy="4514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lim>
                          </m:limLow>
                        </m:fNam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60" y="3272075"/>
                <a:ext cx="2057230" cy="4514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2186864" y="4019496"/>
                <a:ext cx="16042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(∝)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864" y="4019496"/>
                <a:ext cx="1604221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952470" y="2935453"/>
            <a:ext cx="569098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Objective function (e.g., drag coefficient)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Design variables (shape control parameters)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Flow variables (velocity, pressure, density,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Computational mesh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R=0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→Residual Flow which is error in equation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M(α)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Mesh deformation method (RBF in this 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804783" y="5178550"/>
                <a:ext cx="3415679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:r>
                  <a:rPr lang="en-IN" dirty="0" smtClean="0"/>
                  <a:t>1)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𝑠𝑢𝑏𝑗𝑒𝑐𝑡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∝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∝</m:t>
                            </m:r>
                          </m:e>
                        </m:d>
                      </m:e>
                    </m:d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783" y="5178550"/>
                <a:ext cx="3415679" cy="404983"/>
              </a:xfrm>
              <a:prstGeom prst="rect">
                <a:avLst/>
              </a:prstGeom>
              <a:blipFill>
                <a:blip r:embed="rId5"/>
                <a:stretch>
                  <a:fillRect l="-1429" t="-1493" b="-19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724464" y="5548000"/>
                <a:ext cx="784016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2)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𝑚𝑒𝑠h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𝑚𝑢𝑠𝑡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𝑐h𝑎𝑛𝑔𝑒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𝑠h𝑎𝑝𝑒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𝑐h𝑎𝑛𝑔𝑒𝑠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𝑚𝑒𝑠h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𝑑𝑒𝑓𝑜𝑟𝑚𝑎𝑡𝑖𝑜𝑛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𝑚𝑒𝑡h𝑜𝑑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𝑢𝑝𝑑𝑎𝑡𝑒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𝑚𝑒𝑠h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𝑅𝐵𝐹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𝐸𝐿𝐴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𝑚𝑒𝑠h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𝑒𝑞𝑢𝑎𝑙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𝑋𝑣𝑜𝑙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𝑋𝑠𝑢𝑟𝑓</m:t>
                      </m:r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464" y="5548000"/>
                <a:ext cx="7840160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24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443" y="65359"/>
            <a:ext cx="10515600" cy="654307"/>
          </a:xfrm>
        </p:spPr>
        <p:txBody>
          <a:bodyPr anchor="t">
            <a:norm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Role of Computational Fluid Dynamics and Free Form Deformation</a:t>
            </a:r>
            <a:endParaRPr lang="en-IN" sz="2000" b="1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212789"/>
              </p:ext>
            </p:extLst>
          </p:nvPr>
        </p:nvGraphicFramePr>
        <p:xfrm>
          <a:off x="871151" y="945289"/>
          <a:ext cx="10639167" cy="5274942"/>
        </p:xfrm>
        <a:graphic>
          <a:graphicData uri="http://schemas.openxmlformats.org/drawingml/2006/table">
            <a:tbl>
              <a:tblPr/>
              <a:tblGrid>
                <a:gridCol w="3546389">
                  <a:extLst>
                    <a:ext uri="{9D8B030D-6E8A-4147-A177-3AD203B41FA5}">
                      <a16:colId xmlns:a16="http://schemas.microsoft.com/office/drawing/2014/main" val="3469637954"/>
                    </a:ext>
                  </a:extLst>
                </a:gridCol>
                <a:gridCol w="3546389">
                  <a:extLst>
                    <a:ext uri="{9D8B030D-6E8A-4147-A177-3AD203B41FA5}">
                      <a16:colId xmlns:a16="http://schemas.microsoft.com/office/drawing/2014/main" val="1283301245"/>
                    </a:ext>
                  </a:extLst>
                </a:gridCol>
                <a:gridCol w="3546389">
                  <a:extLst>
                    <a:ext uri="{9D8B030D-6E8A-4147-A177-3AD203B41FA5}">
                      <a16:colId xmlns:a16="http://schemas.microsoft.com/office/drawing/2014/main" val="3703554943"/>
                    </a:ext>
                  </a:extLst>
                </a:gridCol>
              </a:tblGrid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Aspect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CFD (Computational Fluid Dynamics)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FFD (Free-Form Deformation)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100123"/>
                  </a:ext>
                </a:extLst>
              </a:tr>
              <a:tr h="714064">
                <a:tc>
                  <a:txBody>
                    <a:bodyPr/>
                    <a:lstStyle/>
                    <a:p>
                      <a:r>
                        <a:rPr lang="en-IN" sz="1200"/>
                        <a:t>Definition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Numerical simulation of fluid flow around aerodynamic bodies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Geometry parameterization method using a deformable control box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014893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Primary role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Evaluates aerodynamic performance of a given shape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Controls how the shape is modified during optimization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750980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What it computes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Flow field, pressure distribution, lift, drag, shock location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Smooth geometric variations using control points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531622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Key information provided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Aerodynamic forces and flow behavior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Shape design variables and deformation patterns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914185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Input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Geometry, mesh, and flow conditions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Control point displacements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370807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Output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Aerodynamic coefficients (Cd, Cl) and flow fields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Updated geometry shape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427731"/>
                  </a:ext>
                </a:extLst>
              </a:tr>
              <a:tr h="284103">
                <a:tc>
                  <a:txBody>
                    <a:bodyPr/>
                    <a:lstStyle/>
                    <a:p>
                      <a:r>
                        <a:rPr lang="en-IN" sz="1200"/>
                        <a:t>Role in optimization loop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Objective function evaluation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Shape update mechanism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688896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Interaction with adjoint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Supplies flow solution for sensitivity analysis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Provides design variables for adjoint sensitivities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901254"/>
                  </a:ext>
                </a:extLst>
              </a:tr>
              <a:tr h="499084">
                <a:tc>
                  <a:txBody>
                    <a:bodyPr/>
                    <a:lstStyle/>
                    <a:p>
                      <a:r>
                        <a:rPr lang="en-IN" sz="1200"/>
                        <a:t>Importance in this project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Ensures accurate physics-based evaluation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Enables CAD-free, smooth, and controlled shape changes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357431"/>
                  </a:ext>
                </a:extLst>
              </a:tr>
              <a:tr h="284103">
                <a:tc>
                  <a:txBody>
                    <a:bodyPr/>
                    <a:lstStyle/>
                    <a:p>
                      <a:r>
                        <a:rPr lang="en-IN" sz="1200"/>
                        <a:t>Overall contribution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Performance analysis</a:t>
                      </a:r>
                      <a:endParaRPr lang="en-IN" sz="120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Design space exploration</a:t>
                      </a:r>
                      <a:endParaRPr lang="en-IN" sz="1200" dirty="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33283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188260"/>
              </p:ext>
            </p:extLst>
          </p:nvPr>
        </p:nvGraphicFramePr>
        <p:xfrm>
          <a:off x="191530" y="537520"/>
          <a:ext cx="11656758" cy="615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5586">
                  <a:extLst>
                    <a:ext uri="{9D8B030D-6E8A-4147-A177-3AD203B41FA5}">
                      <a16:colId xmlns:a16="http://schemas.microsoft.com/office/drawing/2014/main" val="3177698751"/>
                    </a:ext>
                  </a:extLst>
                </a:gridCol>
                <a:gridCol w="3885586">
                  <a:extLst>
                    <a:ext uri="{9D8B030D-6E8A-4147-A177-3AD203B41FA5}">
                      <a16:colId xmlns:a16="http://schemas.microsoft.com/office/drawing/2014/main" val="3764317098"/>
                    </a:ext>
                  </a:extLst>
                </a:gridCol>
                <a:gridCol w="3885586">
                  <a:extLst>
                    <a:ext uri="{9D8B030D-6E8A-4147-A177-3AD203B41FA5}">
                      <a16:colId xmlns:a16="http://schemas.microsoft.com/office/drawing/2014/main" val="3763729191"/>
                    </a:ext>
                  </a:extLst>
                </a:gridCol>
              </a:tblGrid>
              <a:tr h="382152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CFD (Computational Fluid Dynamics)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FFD (Free-Form Deformation)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371225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 dirty="0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 simulation of fluid flow around aerodynamic bodies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Geometry parameterization method using a deformable control 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876462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/>
                        <a:t>Primary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Evaluates aerodynamic performance of a given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Controls how the shape is modified during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836332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/>
                        <a:t>What it computes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Flow field, pressure distribution, lift, drag, shock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Smooth geometric variations using control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523641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/>
                        <a:t>Key information provided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Aerodynamic forces and flow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Shape design variables and deformation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574814"/>
                  </a:ext>
                </a:extLst>
              </a:tr>
              <a:tr h="382152">
                <a:tc>
                  <a:txBody>
                    <a:bodyPr/>
                    <a:lstStyle/>
                    <a:p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Geometry, mesh, and flow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Control point displacements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353747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Aerodynamic coefficients (Cd, Cl) and flow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Updated geometry shape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71648"/>
                  </a:ext>
                </a:extLst>
              </a:tr>
              <a:tr h="382152">
                <a:tc>
                  <a:txBody>
                    <a:bodyPr/>
                    <a:lstStyle/>
                    <a:p>
                      <a:r>
                        <a:rPr lang="en-IN"/>
                        <a:t>Role in optimization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Objective function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 update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416483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/>
                        <a:t>Interaction with adjoint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Supplies flow solution for sensitivity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Provides design variables for adjoint sensitivities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6601"/>
                  </a:ext>
                </a:extLst>
              </a:tr>
              <a:tr h="660644">
                <a:tc>
                  <a:txBody>
                    <a:bodyPr/>
                    <a:lstStyle/>
                    <a:p>
                      <a:r>
                        <a:rPr lang="en-IN"/>
                        <a:t>Importance in this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Ensures accurate physics-based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Enables CAD-free, smooth, and controlled shape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169237"/>
                  </a:ext>
                </a:extLst>
              </a:tr>
              <a:tr h="382152">
                <a:tc>
                  <a:txBody>
                    <a:bodyPr/>
                    <a:lstStyle/>
                    <a:p>
                      <a:r>
                        <a:rPr lang="en-IN"/>
                        <a:t>Overall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Performance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Design space exploration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871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18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Britannic Bold" panose="020B0903060703020204" pitchFamily="34" charset="0"/>
              </a:rPr>
              <a:t>Su2 software</a:t>
            </a:r>
            <a:endParaRPr lang="en-IN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SU2 is an open-source Computational Fluid Dynamics (CFD) software</a:t>
            </a:r>
          </a:p>
          <a:p>
            <a:r>
              <a:rPr lang="en-IN" sz="2000" dirty="0"/>
              <a:t>Used for aerodynamic analysis and shape optimization</a:t>
            </a:r>
          </a:p>
          <a:p>
            <a:r>
              <a:rPr lang="en-IN" sz="2000" dirty="0"/>
              <a:t>Solves Euler and </a:t>
            </a:r>
            <a:r>
              <a:rPr lang="en-IN" sz="2000" dirty="0" err="1"/>
              <a:t>Navier</a:t>
            </a:r>
            <a:r>
              <a:rPr lang="en-IN" sz="2000" dirty="0"/>
              <a:t>–Stokes equations for compressible and incompressible flows</a:t>
            </a:r>
          </a:p>
          <a:p>
            <a:r>
              <a:rPr lang="en-IN" sz="2000" dirty="0"/>
              <a:t>Computes lift, drag, and moment coefficients accurately</a:t>
            </a:r>
          </a:p>
          <a:p>
            <a:r>
              <a:rPr lang="en-IN" sz="2000" dirty="0"/>
              <a:t>Supports discrete </a:t>
            </a:r>
            <a:r>
              <a:rPr lang="en-IN" sz="2000" dirty="0" err="1"/>
              <a:t>adjoint</a:t>
            </a:r>
            <a:r>
              <a:rPr lang="en-IN" sz="2000" dirty="0"/>
              <a:t> methods for efficient sensitivity analysis</a:t>
            </a:r>
          </a:p>
          <a:p>
            <a:r>
              <a:rPr lang="en-IN" sz="2000" dirty="0"/>
              <a:t>Enables CAD-free optimization using FFD and RBF techniques</a:t>
            </a:r>
          </a:p>
        </p:txBody>
      </p:sp>
    </p:spTree>
    <p:extLst>
      <p:ext uri="{BB962C8B-B14F-4D97-AF65-F5344CB8AC3E}">
        <p14:creationId xmlns:p14="http://schemas.microsoft.com/office/powerpoint/2010/main" val="3618627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Algerian" panose="04020705040A02060702" pitchFamily="82" charset="0"/>
              </a:rPr>
              <a:t>NACA0012 Airfoil Geometry Used in SU2</a:t>
            </a:r>
            <a:endParaRPr lang="en-IN" b="1" dirty="0">
              <a:solidFill>
                <a:srgbClr val="7030A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14" y="1897815"/>
            <a:ext cx="6529750" cy="4351338"/>
          </a:xfrm>
        </p:spPr>
      </p:pic>
      <p:sp>
        <p:nvSpPr>
          <p:cNvPr id="5" name="Rectangle 4"/>
          <p:cNvSpPr/>
          <p:nvPr/>
        </p:nvSpPr>
        <p:spPr>
          <a:xfrm>
            <a:off x="6706864" y="2278835"/>
            <a:ext cx="54851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What is shown: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NACA0012 airfoil shape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Leading-edge detail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Chord length and thickness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Airfoil specifications</a:t>
            </a:r>
          </a:p>
          <a:p>
            <a:r>
              <a:rPr lang="en-US" b="1" dirty="0" smtClean="0"/>
              <a:t>Explanation: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airfoil is </a:t>
            </a:r>
            <a:r>
              <a:rPr lang="en-US" b="1" dirty="0" smtClean="0"/>
              <a:t>symmetric with 12% maximum thickness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Maximum thickness occurs near </a:t>
            </a:r>
            <a:r>
              <a:rPr lang="en-US" b="1" dirty="0" smtClean="0"/>
              <a:t>30% of the chord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Geometry matches standard </a:t>
            </a:r>
            <a:r>
              <a:rPr lang="en-US" b="1" dirty="0" smtClean="0"/>
              <a:t>NACA0012 definition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Smooth leading and trailing edges ensure accurate flow simulation</a:t>
            </a:r>
          </a:p>
          <a:p>
            <a:r>
              <a:rPr lang="en-US" b="1" dirty="0" smtClean="0"/>
              <a:t>Conclusion: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geometry is </a:t>
            </a:r>
            <a:r>
              <a:rPr lang="en-US" b="1" dirty="0" smtClean="0"/>
              <a:t>correctly generated and validated</a:t>
            </a:r>
            <a:r>
              <a:rPr lang="en-US" dirty="0" smtClean="0"/>
              <a:t> for CFD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63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BE3282"/>
                </a:solidFill>
              </a:rPr>
              <a:t>The key geometric parameters that define the shape of an airfoil.</a:t>
            </a:r>
            <a:endParaRPr lang="en-IN" b="1" dirty="0">
              <a:solidFill>
                <a:srgbClr val="BE328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89" y="2232025"/>
            <a:ext cx="9288217" cy="378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0" y="135466"/>
            <a:ext cx="11775697" cy="6468534"/>
          </a:xfrm>
        </p:spPr>
      </p:pic>
    </p:spTree>
    <p:extLst>
      <p:ext uri="{BB962C8B-B14F-4D97-AF65-F5344CB8AC3E}">
        <p14:creationId xmlns:p14="http://schemas.microsoft.com/office/powerpoint/2010/main" val="2346516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Algerian" panose="04020705040A02060702" pitchFamily="82" charset="0"/>
              </a:rPr>
              <a:t>Su2 history data analysis – column identification</a:t>
            </a:r>
            <a:endParaRPr lang="en-IN" b="1" dirty="0">
              <a:solidFill>
                <a:srgbClr val="7030A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5" y="1690688"/>
            <a:ext cx="6144974" cy="4351338"/>
          </a:xfrm>
        </p:spPr>
      </p:pic>
      <p:sp>
        <p:nvSpPr>
          <p:cNvPr id="5" name="Rectangle 4"/>
          <p:cNvSpPr/>
          <p:nvPr/>
        </p:nvSpPr>
        <p:spPr>
          <a:xfrm>
            <a:off x="6497052" y="1701046"/>
            <a:ext cx="5694947" cy="434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shown: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Residual convergence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CFL number evolution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Cumulative computational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Identification of lift and drag columns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Residuals decrease rapidly and reach a steady value, indicating </a:t>
            </a:r>
            <a:r>
              <a:rPr lang="en-US" b="1" dirty="0"/>
              <a:t>numerical convergence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CFL number stabilizes around a constant value, confirming </a:t>
            </a:r>
            <a:r>
              <a:rPr lang="en-US" b="1" dirty="0"/>
              <a:t>stable time stepping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Computational time increases smoothly, showing </a:t>
            </a:r>
            <a:r>
              <a:rPr lang="en-US" b="1" dirty="0"/>
              <a:t>efficient solver performance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Lift and drag coefficients are correctly identified from the SU2 history data</a:t>
            </a:r>
          </a:p>
          <a:p>
            <a:r>
              <a:rPr lang="en-US" b="1" dirty="0"/>
              <a:t>Conclusion: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445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Algerian" panose="04020705040A02060702" pitchFamily="82" charset="0"/>
              </a:rPr>
              <a:t>Complete CFD Performance Results (SU2 </a:t>
            </a:r>
            <a:r>
              <a:rPr lang="en-US" b="1" dirty="0" err="1">
                <a:solidFill>
                  <a:srgbClr val="7030A0"/>
                </a:solidFill>
                <a:latin typeface="Algerian" panose="04020705040A02060702" pitchFamily="82" charset="0"/>
              </a:rPr>
              <a:t>Tecplot</a:t>
            </a:r>
            <a:r>
              <a:rPr lang="en-US" b="1" dirty="0">
                <a:solidFill>
                  <a:srgbClr val="7030A0"/>
                </a:solidFill>
                <a:latin typeface="Algerian" panose="04020705040A02060702" pitchFamily="82" charset="0"/>
              </a:rPr>
              <a:t> Analysis)</a:t>
            </a:r>
            <a:endParaRPr lang="en-IN" b="1" dirty="0">
              <a:solidFill>
                <a:srgbClr val="7030A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50" y="1897814"/>
            <a:ext cx="5861638" cy="4351338"/>
          </a:xfrm>
        </p:spPr>
      </p:pic>
      <p:sp>
        <p:nvSpPr>
          <p:cNvPr id="5" name="Rectangle 4"/>
          <p:cNvSpPr/>
          <p:nvPr/>
        </p:nvSpPr>
        <p:spPr>
          <a:xfrm>
            <a:off x="6271588" y="1949824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What is shown: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Lift and drag coefficient evolution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Lift-to-drag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Pitching moment coefficient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Force components (</a:t>
            </a:r>
            <a:r>
              <a:rPr lang="en-IN" dirty="0" err="1"/>
              <a:t>CFx</a:t>
            </a:r>
            <a:r>
              <a:rPr lang="en-IN" dirty="0"/>
              <a:t>, </a:t>
            </a:r>
            <a:r>
              <a:rPr lang="en-IN" dirty="0" err="1"/>
              <a:t>CFy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CFL evolution and solver performance</a:t>
            </a:r>
          </a:p>
          <a:p>
            <a:r>
              <a:rPr lang="en-IN" b="1" dirty="0"/>
              <a:t>Key Results: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Lift coefficient (CL) ≈ </a:t>
            </a:r>
            <a:r>
              <a:rPr lang="en-IN" b="1" dirty="0"/>
              <a:t>0.327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Drag coefficient (CD) ≈ </a:t>
            </a:r>
            <a:r>
              <a:rPr lang="en-IN" b="1" dirty="0"/>
              <a:t>0.021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Lift-to-drag ratio ≈ </a:t>
            </a:r>
            <a:r>
              <a:rPr lang="en-IN" b="1" dirty="0"/>
              <a:t>15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Pitching moment remains stable</a:t>
            </a:r>
          </a:p>
          <a:p>
            <a:r>
              <a:rPr lang="en-IN" b="1" dirty="0"/>
              <a:t>Conclusion: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CFD results confirm </a:t>
            </a:r>
            <a:r>
              <a:rPr lang="en-IN" b="1" dirty="0"/>
              <a:t>correct flow physics and solver setup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validated solution serves as a </a:t>
            </a:r>
            <a:r>
              <a:rPr lang="en-IN" b="1" dirty="0"/>
              <a:t>baseline for </a:t>
            </a:r>
            <a:r>
              <a:rPr lang="en-IN" b="1" dirty="0" err="1"/>
              <a:t>adjoint</a:t>
            </a:r>
            <a:r>
              <a:rPr lang="en-IN" b="1" dirty="0"/>
              <a:t>-based optimization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690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9752" y="67555"/>
                <a:ext cx="11281324" cy="824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local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coordinate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system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is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set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inside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the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delimited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volume</m:t>
                    </m:r>
                    <m:r>
                      <m:rPr>
                        <m:nor/>
                      </m:rPr>
                      <a:rPr lang="en-US" smtClean="0"/>
                      <m:t>, </m:t>
                    </m:r>
                    <m:r>
                      <m:rPr>
                        <m:nor/>
                      </m:rPr>
                      <a:rPr lang="en-US" smtClean="0"/>
                      <m:t>any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grid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point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X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inside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the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control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box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has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coordinates</m:t>
                    </m:r>
                    <m:r>
                      <m:rPr>
                        <m:nor/>
                      </m:rPr>
                      <a:rPr lang="en-US" smtClean="0"/>
                      <m:t> (</m:t>
                    </m:r>
                    <m:r>
                      <m:rPr>
                        <m:nor/>
                      </m:rPr>
                      <a:rPr lang="en-US" smtClean="0"/>
                      <m:t>s</m:t>
                    </m:r>
                    <m:r>
                      <m:rPr>
                        <m:nor/>
                      </m:rPr>
                      <a:rPr lang="en-US" smtClean="0"/>
                      <m:t>, </m:t>
                    </m:r>
                    <m:r>
                      <m:rPr>
                        <m:nor/>
                      </m:rPr>
                      <a:rPr lang="en-US" smtClean="0"/>
                      <m:t>t</m:t>
                    </m:r>
                    <m:r>
                      <m:rPr>
                        <m:nor/>
                      </m:rPr>
                      <a:rPr lang="en-US" smtClean="0"/>
                      <m:t>, </m:t>
                    </m:r>
                    <m:r>
                      <m:rPr>
                        <m:nor/>
                      </m:rPr>
                      <a:rPr lang="en-US" smtClean="0"/>
                      <m:t>u</m:t>
                    </m:r>
                    <m:r>
                      <m:rPr>
                        <m:nor/>
                      </m:rPr>
                      <a:rPr lang="en-US" smtClean="0"/>
                      <m:t>), </m:t>
                    </m:r>
                    <m:r>
                      <m:rPr>
                        <m:nor/>
                      </m:rPr>
                      <a:rPr lang="en-US" smtClean="0"/>
                      <m:t>also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called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lattice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coordinates</m:t>
                    </m:r>
                    <m:r>
                      <m:rPr>
                        <m:nor/>
                      </m:rPr>
                      <a:rPr lang="en-US" smtClean="0"/>
                      <m:t>:</m:t>
                    </m:r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𝑠𝑆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𝑢𝑈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" y="67555"/>
                <a:ext cx="11281324" cy="824649"/>
              </a:xfrm>
              <a:prstGeom prst="rect">
                <a:avLst/>
              </a:prstGeom>
              <a:blipFill>
                <a:blip r:embed="rId2"/>
                <a:stretch>
                  <a:fillRect l="-1135" t="-6667" b="-37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9752" y="931684"/>
                <a:ext cx="8539565" cy="1092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Determines how mesh points move when FFD control points are displaced.</a:t>
                </a:r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sub>
                                      <m:sup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sub>
                                      <m:sup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 ∆</m:t>
                                    </m:r>
                                    <m:sSub>
                                      <m:sSubPr>
                                        <m:ctrlP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" y="931684"/>
                <a:ext cx="8539565" cy="1092863"/>
              </a:xfrm>
              <a:prstGeom prst="rect">
                <a:avLst/>
              </a:prstGeom>
              <a:blipFill>
                <a:blip r:embed="rId3"/>
                <a:stretch>
                  <a:fillRect l="-1499" t="-7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9752" y="1998564"/>
                <a:ext cx="10882082" cy="4412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/>
                          <m:t>he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weighting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function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used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to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smoothly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blend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control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point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movements</m:t>
                        </m:r>
                        <m:r>
                          <m:rPr>
                            <m:nor/>
                          </m:rPr>
                          <a:rPr lang="en-US"/>
                          <m:t>. 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" y="1998564"/>
                <a:ext cx="10882082" cy="441211"/>
              </a:xfrm>
              <a:prstGeom prst="rect">
                <a:avLst/>
              </a:prstGeom>
              <a:blipFill>
                <a:blip r:embed="rId4"/>
                <a:stretch>
                  <a:fillRect l="-1176" b="-6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994056" y="3411677"/>
                <a:ext cx="1407437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𝑖𝑗𝑘𝑠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056" y="3411677"/>
                <a:ext cx="1407437" cy="299313"/>
              </a:xfrm>
              <a:prstGeom prst="rect">
                <a:avLst/>
              </a:prstGeom>
              <a:blipFill>
                <a:blip r:embed="rId5"/>
                <a:stretch>
                  <a:fillRect l="-2165" r="-1299" b="-26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365282" y="4131280"/>
                <a:ext cx="1872564" cy="359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lim>
                          </m:limLow>
                        </m:fNam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∝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282" y="4131280"/>
                <a:ext cx="1872564" cy="359137"/>
              </a:xfrm>
              <a:prstGeom prst="rect">
                <a:avLst/>
              </a:prstGeom>
              <a:blipFill>
                <a:blip r:embed="rId6"/>
                <a:stretch>
                  <a:fillRect l="-2280" t="-1695" r="-4235" b="-13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6131" y="4774255"/>
                <a:ext cx="9983851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This equation means that the flow solution is obtained by solving the CFD equations until convergence for a given shape and mesh.</a:t>
                </a:r>
                <a:r>
                  <a:rPr lang="en-IN" dirty="0" smtClean="0"/>
                  <a:t>)</a:t>
                </a:r>
                <a:endParaRPr lang="en-IN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31" y="4774255"/>
                <a:ext cx="9983851" cy="830997"/>
              </a:xfrm>
              <a:prstGeom prst="rect">
                <a:avLst/>
              </a:prstGeom>
              <a:blipFill>
                <a:blip r:embed="rId7"/>
                <a:stretch>
                  <a:fillRect l="-1282" r="-97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529086" y="4786703"/>
                <a:ext cx="14195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(∝)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86" y="4786703"/>
                <a:ext cx="1419556" cy="276999"/>
              </a:xfrm>
              <a:prstGeom prst="rect">
                <a:avLst/>
              </a:prstGeom>
              <a:blipFill>
                <a:blip r:embed="rId8"/>
                <a:stretch>
                  <a:fillRect l="-3433" t="-2174" r="-5579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36131" y="5805412"/>
                <a:ext cx="11512670" cy="873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,∝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∝</m:t>
                                  </m:r>
                                </m:e>
                              </m:d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dirty="0" smtClean="0"/>
                  <a:t> </a:t>
                </a:r>
                <a:r>
                  <a:rPr lang="en-US" dirty="0"/>
                  <a:t>This equation combines the objective, flow equations, and mesh movement into one function to compute sensitivities efficiently using </a:t>
                </a:r>
                <a:r>
                  <a:rPr lang="en-US" dirty="0" err="1"/>
                  <a:t>adjoint</a:t>
                </a:r>
                <a:r>
                  <a:rPr lang="en-US" dirty="0"/>
                  <a:t> variables.</a:t>
                </a:r>
                <a:endParaRPr lang="en-IN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31" y="5805412"/>
                <a:ext cx="11512670" cy="873316"/>
              </a:xfrm>
              <a:prstGeom prst="rect">
                <a:avLst/>
              </a:prstGeom>
              <a:blipFill>
                <a:blip r:embed="rId9"/>
                <a:stretch>
                  <a:fillRect l="-1112" b="-15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788375" y="3809169"/>
            <a:ext cx="7069371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What is Sensitivity?</a:t>
            </a:r>
          </a:p>
          <a:p>
            <a:r>
              <a:rPr lang="en-US" i="1" dirty="0"/>
              <a:t>Sensitivity tells us how much drag or lift changes when the shape changes</a:t>
            </a:r>
          </a:p>
          <a:p>
            <a:r>
              <a:rPr lang="en-US" i="1" dirty="0"/>
              <a:t>It is needed because we are using gradient-based optimization</a:t>
            </a:r>
          </a:p>
          <a:p>
            <a:pPr/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458414" y="2725866"/>
            <a:ext cx="84087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represents the </a:t>
            </a:r>
            <a:r>
              <a:rPr lang="en-US" b="1" dirty="0"/>
              <a:t>linear elasticity law</a:t>
            </a:r>
            <a:r>
              <a:rPr lang="en-US" dirty="0"/>
              <a:t>, which relates the </a:t>
            </a:r>
            <a:r>
              <a:rPr lang="en-US" b="1" dirty="0"/>
              <a:t>strain</a:t>
            </a:r>
            <a:r>
              <a:rPr lang="en-US" dirty="0"/>
              <a:t> in the mesh to the </a:t>
            </a:r>
            <a:r>
              <a:rPr lang="en-US" b="1" dirty="0"/>
              <a:t>applied stress</a:t>
            </a:r>
            <a:r>
              <a:rPr lang="en-US" dirty="0"/>
              <a:t>, treating the mesh as an elastic solid during deformation.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62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6947" y="292607"/>
                <a:ext cx="11456664" cy="1499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W</a:t>
                </a:r>
                <a:r>
                  <a:rPr lang="en-US" dirty="0" smtClean="0"/>
                  <a:t>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represents </a:t>
                </a:r>
                <a:r>
                  <a:rPr lang="en-US" dirty="0"/>
                  <a:t>the </a:t>
                </a:r>
                <a:r>
                  <a:rPr lang="en-US" dirty="0" err="1"/>
                  <a:t>adjoint</a:t>
                </a:r>
                <a:r>
                  <a:rPr lang="en-US" dirty="0"/>
                  <a:t> variables linked with the flow state, meanwhile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is </a:t>
                </a:r>
                <a:r>
                  <a:rPr lang="en-US" dirty="0"/>
                  <a:t>a new set of </a:t>
                </a:r>
                <a:r>
                  <a:rPr lang="en-US" dirty="0" err="1"/>
                  <a:t>adjoint</a:t>
                </a:r>
                <a:r>
                  <a:rPr lang="en-US" dirty="0"/>
                  <a:t> variables multiplying the residual of the grid movement problem. Both vectors can assume arbitrary values. L has to be </a:t>
                </a:r>
                <a:r>
                  <a:rPr lang="en-US" dirty="0" smtClean="0"/>
                  <a:t>differentiated with </a:t>
                </a:r>
                <a:r>
                  <a:rPr lang="en-US" dirty="0"/>
                  <a:t>respect to the design variables using the chain rule. Taking advantage of the free value of the </a:t>
                </a:r>
                <a:r>
                  <a:rPr lang="en-US" dirty="0" err="1"/>
                  <a:t>adjoint</a:t>
                </a:r>
                <a:r>
                  <a:rPr lang="en-US" dirty="0"/>
                  <a:t> vectors, the terms ∂U ∂α and ∂X ∂α can be eliminated. This leads to two </a:t>
                </a:r>
                <a:r>
                  <a:rPr lang="en-US" dirty="0" err="1"/>
                  <a:t>adjoint</a:t>
                </a:r>
                <a:r>
                  <a:rPr lang="en-US" dirty="0"/>
                  <a:t> systems that need to be solved</a:t>
                </a:r>
                <a:endParaRPr lang="en-IN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47" y="292607"/>
                <a:ext cx="11456664" cy="1499898"/>
              </a:xfrm>
              <a:prstGeom prst="rect">
                <a:avLst/>
              </a:prstGeom>
              <a:blipFill>
                <a:blip r:embed="rId2"/>
                <a:stretch>
                  <a:fillRect l="-319" t="-1626" b="-56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440586" y="1686727"/>
                <a:ext cx="10939410" cy="8101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dirty="0" smtClean="0"/>
                  <a:t>computes </a:t>
                </a:r>
                <a:r>
                  <a:rPr lang="en-US" dirty="0"/>
                  <a:t>the flow </a:t>
                </a:r>
                <a:r>
                  <a:rPr lang="en-US" dirty="0" err="1"/>
                  <a:t>adjoint</a:t>
                </a:r>
                <a:r>
                  <a:rPr lang="en-US" dirty="0"/>
                  <a:t> variables</a:t>
                </a:r>
                <a:r>
                  <a:rPr lang="en-US" dirty="0" smtClean="0"/>
                  <a:t>,</a:t>
                </a:r>
              </a:p>
              <a:p>
                <a:pPr/>
                <a:r>
                  <a:rPr lang="en-US" dirty="0" smtClean="0"/>
                  <a:t> </a:t>
                </a:r>
                <a:r>
                  <a:rPr lang="en-US" dirty="0"/>
                  <a:t>which measure how changes in flow variables affect the objective (drag/lift).</a:t>
                </a:r>
                <a:endParaRPr lang="en-IN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6" y="1686727"/>
                <a:ext cx="10939410" cy="810158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440586" y="2532641"/>
                <a:ext cx="10268814" cy="780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den>
                    </m:f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-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computes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the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mesh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adjoint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variables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which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capture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how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mesh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changes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influence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/>
                              <m:t>the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objective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through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the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flow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.</m:t>
                            </m:r>
                          </m:e>
                        </m:eqArr>
                      </m:sub>
                    </m:sSub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6" y="2532641"/>
                <a:ext cx="10268814" cy="7809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-550795" y="3426196"/>
                <a:ext cx="6483715" cy="648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𝑑𝑀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0795" y="3426196"/>
                <a:ext cx="6483715" cy="6482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440586" y="4390529"/>
                <a:ext cx="1390060" cy="391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𝐾𝑋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𝑠𝑢𝑟𝑓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6" y="4390529"/>
                <a:ext cx="1390060" cy="391582"/>
              </a:xfrm>
              <a:prstGeom prst="rect">
                <a:avLst/>
              </a:prstGeom>
              <a:blipFill>
                <a:blip r:embed="rId6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966654" y="5023087"/>
                <a:ext cx="6096000" cy="7857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,∝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𝑠𝑢𝑟𝑓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𝐾𝑋</m:t>
                              </m:r>
                            </m:e>
                          </m:d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54" y="5023087"/>
                <a:ext cx="6096000" cy="785793"/>
              </a:xfrm>
              <a:prstGeom prst="rect">
                <a:avLst/>
              </a:prstGeom>
              <a:blipFill>
                <a:blip r:embed="rId7"/>
                <a:stretch>
                  <a:fillRect b="-38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340465" y="6003712"/>
                <a:ext cx="3640997" cy="6269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+ 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465" y="6003712"/>
                <a:ext cx="3640997" cy="6269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386790" y="597788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his equation gives the final gradient used by the optimizer, combining flow, shape, and surface mesh effects efficiently.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6630854" y="521913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his equation combines the objective, flow equations, and elastic mesh deformation into one expression.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-2118440" y="3555951"/>
                <a:ext cx="19758740" cy="676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eqArr>
                            <m:eqArr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−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shows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that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objective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sensitivity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depends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only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on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surface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mesh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movement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,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eliminating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expensive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volume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mesh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sensitivity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.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18440" y="3555951"/>
                <a:ext cx="19758740" cy="676660"/>
              </a:xfrm>
              <a:prstGeom prst="rect">
                <a:avLst/>
              </a:prstGeom>
              <a:blipFill>
                <a:blip r:embed="rId9"/>
                <a:stretch>
                  <a:fillRect b="-90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776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867" y="23427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BE3282"/>
                </a:solidFill>
                <a:latin typeface="Algerian" panose="04020705040A02060702" pitchFamily="82" charset="0"/>
              </a:rPr>
              <a:t>Future Scope</a:t>
            </a:r>
            <a:endParaRPr lang="en-IN" dirty="0">
              <a:solidFill>
                <a:srgbClr val="BE328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7667" y="119115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cript MT Bold" panose="03040602040607080904" pitchFamily="66" charset="0"/>
              </a:rPr>
              <a:t>Extend </a:t>
            </a:r>
            <a:r>
              <a:rPr lang="en-US" sz="2400" dirty="0" err="1">
                <a:latin typeface="Script MT Bold" panose="03040602040607080904" pitchFamily="66" charset="0"/>
              </a:rPr>
              <a:t>adjoint</a:t>
            </a:r>
            <a:r>
              <a:rPr lang="en-US" sz="2400" dirty="0">
                <a:latin typeface="Script MT Bold" panose="03040602040607080904" pitchFamily="66" charset="0"/>
              </a:rPr>
              <a:t> sensitivities to multi-objective optimization</a:t>
            </a:r>
          </a:p>
          <a:p>
            <a:r>
              <a:rPr lang="en-US" sz="2400" dirty="0">
                <a:latin typeface="Script MT Bold" panose="03040602040607080904" pitchFamily="66" charset="0"/>
              </a:rPr>
              <a:t>Apply to turbulent and 3D complex flows</a:t>
            </a:r>
          </a:p>
          <a:p>
            <a:r>
              <a:rPr lang="en-US" sz="2400" dirty="0">
                <a:latin typeface="Script MT Bold" panose="03040602040607080904" pitchFamily="66" charset="0"/>
              </a:rPr>
              <a:t>Combine with RBF for large shape deformations</a:t>
            </a:r>
          </a:p>
          <a:p>
            <a:r>
              <a:rPr lang="en-US" sz="2400" dirty="0">
                <a:latin typeface="Script MT Bold" panose="03040602040607080904" pitchFamily="66" charset="0"/>
              </a:rPr>
              <a:t>Use for real-world aerospace and wind energy designs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037" y="3217047"/>
            <a:ext cx="6328887" cy="301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87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BE3282"/>
                </a:solidFill>
                <a:latin typeface="Algerian" panose="04020705040A02060702" pitchFamily="82" charset="0"/>
              </a:rPr>
              <a:t>                       Conclusion</a:t>
            </a:r>
            <a:endParaRPr lang="en-IN" b="1" dirty="0">
              <a:solidFill>
                <a:srgbClr val="BE328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4" y="147849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Script MT Bold" panose="03040602040607080904" pitchFamily="66" charset="0"/>
              </a:rPr>
              <a:t>SU2 successfully produced a stable and converged CFD solution for the NACA0012 airfoil.</a:t>
            </a:r>
          </a:p>
          <a:p>
            <a:r>
              <a:rPr lang="en-US" sz="2400" dirty="0">
                <a:latin typeface="Script MT Bold" panose="03040602040607080904" pitchFamily="66" charset="0"/>
              </a:rPr>
              <a:t>Aerodynamic coefficients (CL, CD, CL/CD) were accurate and physically consistent.</a:t>
            </a:r>
          </a:p>
          <a:p>
            <a:r>
              <a:rPr lang="en-US" sz="2400" dirty="0">
                <a:latin typeface="Script MT Bold" panose="03040602040607080904" pitchFamily="66" charset="0"/>
              </a:rPr>
              <a:t>The validated CFD setup provides a reliable baseline for </a:t>
            </a:r>
            <a:r>
              <a:rPr lang="en-US" sz="2400" dirty="0" err="1">
                <a:latin typeface="Script MT Bold" panose="03040602040607080904" pitchFamily="66" charset="0"/>
              </a:rPr>
              <a:t>adjoint</a:t>
            </a:r>
            <a:r>
              <a:rPr lang="en-US" sz="2400" dirty="0">
                <a:latin typeface="Script MT Bold" panose="03040602040607080904" pitchFamily="66" charset="0"/>
              </a:rPr>
              <a:t>-based shape optimization.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415" y="3610507"/>
            <a:ext cx="5695973" cy="31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08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dirty="0" smtClean="0">
                <a:solidFill>
                  <a:srgbClr val="BE3282"/>
                </a:solidFill>
                <a:latin typeface="Script MT Bold" panose="03040602040607080904" pitchFamily="66" charset="0"/>
              </a:rPr>
              <a:t>    THANK YOU</a:t>
            </a:r>
            <a:endParaRPr lang="en-IN" sz="8800" dirty="0">
              <a:solidFill>
                <a:srgbClr val="BE3282"/>
              </a:solidFill>
              <a:latin typeface="Script MT Bold" panose="030406020406070809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21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2429</Words>
  <Application>Microsoft Office PowerPoint</Application>
  <PresentationFormat>Widescreen</PresentationFormat>
  <Paragraphs>241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Algerian</vt:lpstr>
      <vt:lpstr>Arial</vt:lpstr>
      <vt:lpstr>Arial Black</vt:lpstr>
      <vt:lpstr>Britannic Bold</vt:lpstr>
      <vt:lpstr>Calibri</vt:lpstr>
      <vt:lpstr>Calibri Light</vt:lpstr>
      <vt:lpstr>Cambria Math</vt:lpstr>
      <vt:lpstr>Forte</vt:lpstr>
      <vt:lpstr>Script MT Bold</vt:lpstr>
      <vt:lpstr>Wingdings</vt:lpstr>
      <vt:lpstr>Office Theme</vt:lpstr>
      <vt:lpstr>Aerodynamic shape optimization based on discrete adjoint and RBF</vt:lpstr>
      <vt:lpstr>INTRODUCTION</vt:lpstr>
      <vt:lpstr>PROBLEM STATEMENT</vt:lpstr>
      <vt:lpstr>OBJECTIVES</vt:lpstr>
      <vt:lpstr>WHAT IS RBF (Radial Basis Function)?</vt:lpstr>
      <vt:lpstr>WHY ARE WE USING RBF? </vt:lpstr>
      <vt:lpstr> WHAT IS DISCRETE ADJOINT? </vt:lpstr>
      <vt:lpstr>WHY ARE WE USING DISCRETE ADJOINT?</vt:lpstr>
      <vt:lpstr>Optimization Problem </vt:lpstr>
      <vt:lpstr>Role of Computational Fluid Dynamics and Free Form Deformation</vt:lpstr>
      <vt:lpstr>Su2 software</vt:lpstr>
      <vt:lpstr>NACA0012 Airfoil Geometry Used in SU2</vt:lpstr>
      <vt:lpstr>The key geometric parameters that define the shape of an airfoil.</vt:lpstr>
      <vt:lpstr>PowerPoint Presentation</vt:lpstr>
      <vt:lpstr>Su2 history data analysis – column identification</vt:lpstr>
      <vt:lpstr>Complete CFD Performance Results (SU2 Tecplot Analysis)</vt:lpstr>
      <vt:lpstr>PowerPoint Presentation</vt:lpstr>
      <vt:lpstr>PowerPoint Presentation</vt:lpstr>
      <vt:lpstr>Future Scope</vt:lpstr>
      <vt:lpstr>                       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Aerodynamic shape optimization based on discrete adjoint and RBF</dc:title>
  <dc:creator>AMRUTHA</dc:creator>
  <cp:lastModifiedBy>AMRUTHA</cp:lastModifiedBy>
  <cp:revision>29</cp:revision>
  <dcterms:created xsi:type="dcterms:W3CDTF">2026-01-21T18:13:08Z</dcterms:created>
  <dcterms:modified xsi:type="dcterms:W3CDTF">2026-01-22T08:33:16Z</dcterms:modified>
</cp:coreProperties>
</file>